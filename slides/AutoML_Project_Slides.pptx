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Manual ML vs AutoML</a:t>
            </a:r>
          </a:p>
          <a:p>
            <a:pPr>
              <a:defRPr sz="2400">
                <a:solidFill>
                  <a:srgbClr val="D9E2F3"/>
                </a:solidFill>
              </a:defRPr>
            </a:pPr>
            <a:r>
              <a:t>10-year heart disease risk prediction (Framingham)</a:t>
            </a:r>
          </a:p>
          <a:p>
            <a:pPr>
              <a:defRPr sz="1800">
                <a:solidFill>
                  <a:srgbClr val="D9E2F3"/>
                </a:solidFill>
              </a:defRPr>
            </a:pPr>
            <a:r>
              <a:t>AutoML - IA-3 project</a:t>
            </a:r>
          </a:p>
          <a:p>
            <a:pPr>
              <a:defRPr sz="1600">
                <a:solidFill>
                  <a:srgbClr val="D9E2F3"/>
                </a:solidFill>
              </a:defRPr>
            </a:pPr>
            <a:r>
              <a:t>Team members: [add names and register numbers]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Predict CHD within 10 years from routine clinical data</a:t>
            </a:r>
          </a:p>
          <a:p>
            <a:pPr>
              <a:spcAft>
                <a:spcPts val="900"/>
              </a:spcAft>
              <a:defRPr sz="1700"/>
            </a:pPr>
            <a:r>
              <a:t>• Framingham extract: 4,240 rows, 15 features, 15.2% positive (imbalanced)</a:t>
            </a:r>
          </a:p>
          <a:p>
            <a:pPr>
              <a:spcAft>
                <a:spcPts val="900"/>
              </a:spcAft>
              <a:defRPr sz="1700"/>
            </a:pPr>
            <a:r>
              <a:t>• 645 missing cells (glucose 9%)</a:t>
            </a:r>
          </a:p>
          <a:p>
            <a:pPr>
              <a:spcAft>
                <a:spcPts val="900"/>
              </a:spcAft>
              <a:defRPr sz="1700"/>
            </a:pPr>
            <a:r>
              <a:t>• One stratified 80/20 split, seed 42; test set touched once</a:t>
            </a:r>
          </a:p>
          <a:p>
            <a:pPr>
              <a:spcAft>
                <a:spcPts val="900"/>
              </a:spcAft>
              <a:defRPr sz="1700"/>
            </a:pPr>
            <a:r>
              <a:t>• Metric: ROC-AUC (accuracy is misleading at 85% majority)</a:t>
            </a:r>
          </a:p>
        </p:txBody>
      </p:sp>
      <p:pic>
        <p:nvPicPr>
          <p:cNvPr id="5" name="Picture 4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6675120" cy="18118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Workflow: same split, same data, same budget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512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Baseline and tuning (same RF, 36 evaluations each)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Baseline CV AUC 0.711, train AUC 1.00 -&gt; overfits</a:t>
            </a:r>
          </a:p>
          <a:p>
            <a:pPr>
              <a:spcAft>
                <a:spcPts val="900"/>
              </a:spcAft>
              <a:defRPr sz="1700"/>
            </a:pPr>
            <a:r>
              <a:t>• Grid / Random / Optuna CV AUC: 0.727 / 0.726 / 0.726</a:t>
            </a:r>
          </a:p>
          <a:p>
            <a:pPr>
              <a:spcAft>
                <a:spcPts val="900"/>
              </a:spcAft>
              <a:defRPr sz="1700"/>
            </a:pPr>
            <a:r>
              <a:t>• Differences are below CV noise (std 0.03)</a:t>
            </a:r>
          </a:p>
          <a:p>
            <a:pPr>
              <a:spcAft>
                <a:spcPts val="900"/>
              </a:spcAft>
              <a:defRPr sz="1700"/>
            </a:pPr>
            <a:r>
              <a:t>• Time: 106s / 200s / 174s</a:t>
            </a:r>
          </a:p>
          <a:p>
            <a:pPr>
              <a:spcAft>
                <a:spcPts val="900"/>
              </a:spcAft>
              <a:defRPr sz="1700"/>
            </a:pPr>
            <a:r>
              <a:t>• Logistic regression is competitive (test 0.702)</a:t>
            </a:r>
          </a:p>
        </p:txBody>
      </p:sp>
      <p:pic>
        <p:nvPicPr>
          <p:cNvPr id="5" name="Picture 4" descr="tu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6675120" cy="1780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3: AutoML leaderboards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FLAML winner: extra_tree (CV AUC 0.728)</a:t>
            </a:r>
          </a:p>
          <a:p>
            <a:pPr>
              <a:spcAft>
                <a:spcPts val="900"/>
              </a:spcAft>
              <a:defRPr sz="1700"/>
            </a:pPr>
            <a:r>
              <a:t>• AutoGluon: 49 models, winner WeightedEnsemble_L3</a:t>
            </a:r>
          </a:p>
          <a:p>
            <a:pPr>
              <a:spcAft>
                <a:spcPts val="900"/>
              </a:spcAft>
              <a:defRPr sz="1700"/>
            </a:pPr>
            <a:r>
              <a:t>• Tools used the same 15 features; no new features created</a:t>
            </a:r>
          </a:p>
          <a:p>
            <a:pPr>
              <a:spcAft>
                <a:spcPts val="900"/>
              </a:spcAft>
              <a:defRPr sz="1700"/>
            </a:pPr>
            <a:r>
              <a:t>• Top families: FLAML extra_tree, AutoGluon ExtraTrees; linear models weakest</a:t>
            </a:r>
          </a:p>
          <a:p>
            <a:pPr>
              <a:spcAft>
                <a:spcPts val="900"/>
              </a:spcAft>
              <a:defRPr sz="1700"/>
            </a:pPr>
            <a:r>
              <a:t>• Some AutoGluon families skipped (failed imports, see log)</a:t>
            </a:r>
          </a:p>
        </p:txBody>
      </p:sp>
      <p:pic>
        <p:nvPicPr>
          <p:cNvPr id="5" name="Picture 4" descr="fi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40080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Manual vs AutoML: honest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Test AUC: LogReg 0.702, FLAML 0.688, AutoGluon 0.662, tuned RF 0.674</a:t>
            </a:r>
          </a:p>
          <a:p>
            <a:pPr>
              <a:spcAft>
                <a:spcPts val="900"/>
              </a:spcAft>
              <a:defRPr sz="1700"/>
            </a:pPr>
            <a:r>
              <a:t>• 95% CIs overlap: no significant winner</a:t>
            </a:r>
          </a:p>
          <a:p>
            <a:pPr>
              <a:spcAft>
                <a:spcPts val="900"/>
              </a:spcAft>
              <a:defRPr sz="1700"/>
            </a:pPr>
            <a:r>
              <a:t>• AutoML = speed and robustness, not a higher ceiling</a:t>
            </a:r>
          </a:p>
          <a:p>
            <a:pPr>
              <a:spcAft>
                <a:spcPts val="900"/>
              </a:spcAft>
              <a:defRPr sz="1700"/>
            </a:pPr>
            <a:r>
              <a:t>• Interpretability: LogReg &gt; RF+SHAP &gt; FLAML &gt; AutoGluon ensemble</a:t>
            </a:r>
          </a:p>
          <a:p>
            <a:pPr>
              <a:spcAft>
                <a:spcPts val="900"/>
              </a:spcAft>
              <a:defRPr sz="1700"/>
            </a:pPr>
            <a:r>
              <a:t>• Time: manual tuning 2-4 min, AutoML = whole budget</a:t>
            </a:r>
          </a:p>
        </p:txBody>
      </p:sp>
      <p:pic>
        <p:nvPicPr>
          <p:cNvPr id="5" name="Picture 4" descr="roc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4937760" cy="4256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4: Leakage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Added a post-outcome feature (outcome with 5% noise)</a:t>
            </a:r>
          </a:p>
          <a:p>
            <a:pPr>
              <a:spcAft>
                <a:spcPts val="900"/>
              </a:spcAft>
              <a:defRPr sz="1700"/>
            </a:pPr>
            <a:r>
              <a:t>• Test AUC: ~0.63-0.69 -&gt; 0.95-0.97</a:t>
            </a:r>
          </a:p>
          <a:p>
            <a:pPr>
              <a:spcAft>
                <a:spcPts val="900"/>
              </a:spcAft>
              <a:defRPr sz="1700"/>
            </a:pPr>
            <a:r>
              <a:t>• Both AutoML tools exploit it at once (AutoGluon ranks it #1)</a:t>
            </a:r>
          </a:p>
          <a:p>
            <a:pPr>
              <a:spcAft>
                <a:spcPts val="900"/>
              </a:spcAft>
              <a:defRPr sz="1700"/>
            </a:pPr>
            <a:r>
              <a:t>• No warning from the tools</a:t>
            </a:r>
          </a:p>
          <a:p>
            <a:pPr>
              <a:spcAft>
                <a:spcPts val="900"/>
              </a:spcAft>
              <a:defRPr sz="1700"/>
            </a:pPr>
            <a:r>
              <a:t>• Single-feature AUC screen catches it: 0.94 vs 0.69 for age</a:t>
            </a:r>
          </a:p>
        </p:txBody>
      </p:sp>
      <p:pic>
        <p:nvPicPr>
          <p:cNvPr id="5" name="Picture 4" descr="leakage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6675120" cy="25365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Imbalance, bias and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At 0.5 threshold recall is only 1.6%; weighting -&gt; 51% with same AUC</a:t>
            </a:r>
          </a:p>
          <a:p>
            <a:pPr>
              <a:spcAft>
                <a:spcPts val="900"/>
              </a:spcAft>
              <a:defRPr sz="1700"/>
            </a:pPr>
            <a:r>
              <a:t>• Threshold 0.18 from train CV: recall 0.48, precision 0.25</a:t>
            </a:r>
          </a:p>
          <a:p>
            <a:pPr>
              <a:spcAft>
                <a:spcPts val="900"/>
              </a:spcAft>
              <a:defRPr sz="1700"/>
            </a:pPr>
            <a:r>
              <a:t>• Men flagged 37% vs women 24%</a:t>
            </a:r>
          </a:p>
          <a:p>
            <a:pPr>
              <a:spcAft>
                <a:spcPts val="900"/>
              </a:spcAft>
              <a:defRPr sz="1700"/>
            </a:pPr>
            <a:r>
              <a:t>• Under-45s almost never flagged (recall 0.11); age-driven model</a:t>
            </a:r>
          </a:p>
          <a:p>
            <a:pPr>
              <a:spcAft>
                <a:spcPts val="900"/>
              </a:spcAft>
              <a:defRPr sz="1700"/>
            </a:pPr>
            <a:r>
              <a:t>• CV to test AUC drop 0.05 is within test-set noise</a:t>
            </a:r>
          </a:p>
        </p:txBody>
      </p:sp>
      <p:pic>
        <p:nvPicPr>
          <p:cNvPr id="5" name="Picture 4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389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Explainability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Age and systolic BP dominate</a:t>
            </a:r>
          </a:p>
          <a:p>
            <a:pPr>
              <a:spcAft>
                <a:spcPts val="900"/>
              </a:spcAft>
              <a:defRPr sz="1700"/>
            </a:pPr>
            <a:r>
              <a:t>• Directions are clinically plausible</a:t>
            </a:r>
          </a:p>
          <a:p>
            <a:pPr>
              <a:spcAft>
                <a:spcPts val="900"/>
              </a:spcAft>
              <a:defRPr sz="1700"/>
            </a:pPr>
            <a:r>
              <a:t>• Cholesterol/BMI/glucose add little out-of-sample</a:t>
            </a:r>
          </a:p>
          <a:p>
            <a:pPr>
              <a:spcAft>
                <a:spcPts val="900"/>
              </a:spcAft>
              <a:defRPr sz="1700"/>
            </a:pPr>
            <a:r>
              <a:t>• Local SHAP explanation returned for every prediction</a:t>
            </a:r>
          </a:p>
        </p:txBody>
      </p:sp>
      <p:pic>
        <p:nvPicPr>
          <p:cNvPr id="5" name="Picture 4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303520" cy="513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5: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Exported sklearn pipeline (joblib), chosen by a CV rule set before testing</a:t>
            </a:r>
          </a:p>
          <a:p>
            <a:pPr>
              <a:spcAft>
                <a:spcPts val="900"/>
              </a:spcAft>
              <a:defRPr sz="1700"/>
            </a:pPr>
            <a:r>
              <a:t>• FastAPI: /predict, /health, /model-info, docs at /docs</a:t>
            </a:r>
          </a:p>
          <a:p>
            <a:pPr>
              <a:spcAft>
                <a:spcPts val="900"/>
              </a:spcAft>
              <a:defRPr sz="1700"/>
            </a:pPr>
            <a:r>
              <a:t>• Streamlit: sliders, risk vs base rate, SHAP factors, model card tab</a:t>
            </a:r>
          </a:p>
          <a:p>
            <a:pPr>
              <a:spcAft>
                <a:spcPts val="900"/>
              </a:spcAft>
              <a:defRPr sz="1700"/>
            </a:pPr>
            <a:r>
              <a:t>• Model card: data, metrics, intended use, limits</a:t>
            </a:r>
          </a:p>
        </p:txBody>
      </p:sp>
      <p:pic>
        <p:nvPicPr>
          <p:cNvPr id="5" name="Picture 4" descr="shap_local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760720" cy="4640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Reflections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AutoML did well: fast, strong, validated baselines</a:t>
            </a:r>
          </a:p>
          <a:p>
            <a:pPr>
              <a:spcAft>
                <a:spcPts val="900"/>
              </a:spcAft>
              <a:defRPr sz="1700"/>
            </a:pPr>
            <a:r>
              <a:t>• AutoML failed: used the leak, ignored imbalance, no warnings</a:t>
            </a:r>
          </a:p>
          <a:p>
            <a:pPr>
              <a:spcAft>
                <a:spcPts val="900"/>
              </a:spcAft>
              <a:defRPr sz="1700"/>
            </a:pPr>
            <a:r>
              <a:t>• Weak signal (AUC ~0.7): not for clinical use</a:t>
            </a:r>
          </a:p>
          <a:p>
            <a:pPr>
              <a:spcAft>
                <a:spcPts val="900"/>
              </a:spcAft>
              <a:defRPr sz="1700"/>
            </a:pPr>
            <a:r>
              <a:t>• Short budget (240s, 2 cores); small test set; single split</a:t>
            </a:r>
          </a:p>
          <a:p>
            <a:pPr>
              <a:spcAft>
                <a:spcPts val="900"/>
              </a:spcAft>
              <a:defRPr sz="1700"/>
            </a:pPr>
            <a:r>
              <a:t>• Humans own validation design, leakage audit, bias and thresholds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